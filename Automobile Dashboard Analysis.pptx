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4" autoAdjust="0"/>
    <p:restoredTop sz="94660"/>
  </p:normalViewPr>
  <p:slideViewPr>
    <p:cSldViewPr snapToGrid="0">
      <p:cViewPr varScale="1">
        <p:scale>
          <a:sx n="159" d="100"/>
          <a:sy n="159" d="100"/>
        </p:scale>
        <p:origin x="306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8A1E1-DCC7-43F1-9BEC-BC80C647BDDB}" type="datetimeFigureOut">
              <a:rPr lang="LID4096" smtClean="0"/>
              <a:t>01/27/2026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79884-92AD-4932-A4FD-ECD7EDD38945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4238747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8A1E1-DCC7-43F1-9BEC-BC80C647BDDB}" type="datetimeFigureOut">
              <a:rPr lang="LID4096" smtClean="0"/>
              <a:t>01/27/2026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78379884-92AD-4932-A4FD-ECD7EDD38945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8983834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8A1E1-DCC7-43F1-9BEC-BC80C647BDDB}" type="datetimeFigureOut">
              <a:rPr lang="LID4096" smtClean="0"/>
              <a:t>01/27/2026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79884-92AD-4932-A4FD-ECD7EDD38945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108857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8A1E1-DCC7-43F1-9BEC-BC80C647BDDB}" type="datetimeFigureOut">
              <a:rPr lang="LID4096" smtClean="0"/>
              <a:t>01/27/2026</a:t>
            </a:fld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79884-92AD-4932-A4FD-ECD7EDD38945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5716252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8A1E1-DCC7-43F1-9BEC-BC80C647BDDB}" type="datetimeFigureOut">
              <a:rPr lang="LID4096" smtClean="0"/>
              <a:t>01/27/2026</a:t>
            </a:fld>
            <a:endParaRPr lang="LID4096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79884-92AD-4932-A4FD-ECD7EDD38945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5540280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8A1E1-DCC7-43F1-9BEC-BC80C647BDDB}" type="datetimeFigureOut">
              <a:rPr lang="LID4096" smtClean="0"/>
              <a:t>01/27/2026</a:t>
            </a:fld>
            <a:endParaRPr lang="LID4096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79884-92AD-4932-A4FD-ECD7EDD38945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2122546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8A1E1-DCC7-43F1-9BEC-BC80C647BDDB}" type="datetimeFigureOut">
              <a:rPr lang="LID4096" smtClean="0"/>
              <a:t>01/27/2026</a:t>
            </a:fld>
            <a:endParaRPr lang="LID4096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79884-92AD-4932-A4FD-ECD7EDD38945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9869447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8A1E1-DCC7-43F1-9BEC-BC80C647BDDB}" type="datetimeFigureOut">
              <a:rPr lang="LID4096" smtClean="0"/>
              <a:t>01/27/2026</a:t>
            </a:fld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79884-92AD-4932-A4FD-ECD7EDD38945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316819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8A1E1-DCC7-43F1-9BEC-BC80C647BDDB}" type="datetimeFigureOut">
              <a:rPr lang="LID4096" smtClean="0"/>
              <a:t>01/27/2026</a:t>
            </a:fld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79884-92AD-4932-A4FD-ECD7EDD38945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1947275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8A1E1-DCC7-43F1-9BEC-BC80C647BDDB}" type="datetimeFigureOut">
              <a:rPr lang="LID4096" smtClean="0"/>
              <a:t>01/27/2026</a:t>
            </a:fld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79884-92AD-4932-A4FD-ECD7EDD38945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1739427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8A1E1-DCC7-43F1-9BEC-BC80C647BDDB}" type="datetimeFigureOut">
              <a:rPr lang="LID4096" smtClean="0"/>
              <a:t>01/27/2026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79884-92AD-4932-A4FD-ECD7EDD38945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6800543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8A1E1-DCC7-43F1-9BEC-BC80C647BDDB}" type="datetimeFigureOut">
              <a:rPr lang="LID4096" smtClean="0"/>
              <a:t>01/27/2026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79884-92AD-4932-A4FD-ECD7EDD38945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70844217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8A1E1-DCC7-43F1-9BEC-BC80C647BDDB}" type="datetimeFigureOut">
              <a:rPr lang="LID4096" smtClean="0"/>
              <a:t>01/27/2026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79884-92AD-4932-A4FD-ECD7EDD38945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8901661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8A1E1-DCC7-43F1-9BEC-BC80C647BDDB}" type="datetimeFigureOut">
              <a:rPr lang="LID4096" smtClean="0"/>
              <a:t>01/27/2026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79884-92AD-4932-A4FD-ECD7EDD38945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4515016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8A1E1-DCC7-43F1-9BEC-BC80C647BDDB}" type="datetimeFigureOut">
              <a:rPr lang="LID4096" smtClean="0"/>
              <a:t>01/27/2026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79884-92AD-4932-A4FD-ECD7EDD38945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70327680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8A1E1-DCC7-43F1-9BEC-BC80C647BDDB}" type="datetimeFigureOut">
              <a:rPr lang="LID4096" smtClean="0"/>
              <a:t>01/27/2026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79884-92AD-4932-A4FD-ECD7EDD38945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52042667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8A1E1-DCC7-43F1-9BEC-BC80C647BDDB}" type="datetimeFigureOut">
              <a:rPr lang="LID4096" smtClean="0"/>
              <a:t>01/27/2026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79884-92AD-4932-A4FD-ECD7EDD38945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9789330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AF58A1E1-DCC7-43F1-9BEC-BC80C647BDDB}" type="datetimeFigureOut">
              <a:rPr lang="LID4096" smtClean="0"/>
              <a:t>01/27/2026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78379884-92AD-4932-A4FD-ECD7EDD38945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0722317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0EEB27-8727-9987-AABD-5AF7BC05917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IN" sz="4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Automobile Dashboard Analysis</a:t>
            </a:r>
            <a:endParaRPr lang="LID4096" sz="166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C2F60C-A521-4903-4437-455B023BE57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pPr marL="342900" lvl="0" indent="-342900" algn="l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Analysis of automobile sales across vehicle types, regions, and time</a:t>
            </a:r>
          </a:p>
          <a:p>
            <a:pPr marL="342900" lvl="0" indent="-342900" algn="l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Dataset includes sales price, cost price, vehicle type, country, and invoice date</a:t>
            </a:r>
          </a:p>
          <a:p>
            <a:pPr marL="342900" lvl="0" indent="-342900" algn="l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Built using Power BI with DAX, Power Query, and interactive visuals</a:t>
            </a:r>
          </a:p>
          <a:p>
            <a:pPr marL="342900" lvl="0" indent="-342900" algn="l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Objective: understand sales trends, profitability, and performance against targets</a:t>
            </a:r>
          </a:p>
          <a:p>
            <a:pPr algn="l"/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32720764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DAB147-1E3D-6921-7F8D-5A8F6A8B5C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Business Objective</a:t>
            </a:r>
            <a:endParaRPr lang="LID4096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7A675C68-B377-BAC7-85DE-622987BB971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84310" y="3490436"/>
            <a:ext cx="6497291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LID4096" altLang="LID4096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Track total sales and profit over time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LID4096" altLang="LID4096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Compare performance across vehicle categories and regions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LID4096" altLang="LID4096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Analyze the relationship between sales and profit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LID4096" altLang="LID4096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Measure performance against sales targets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LID4096" altLang="LID4096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Provide an interactive dashboard for decision</a:t>
            </a:r>
            <a:r>
              <a:rPr kumimoji="0" lang="en-US" altLang="LID4096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LID4096" altLang="LID4096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making</a:t>
            </a:r>
          </a:p>
        </p:txBody>
      </p:sp>
    </p:spTree>
    <p:extLst>
      <p:ext uri="{BB962C8B-B14F-4D97-AF65-F5344CB8AC3E}">
        <p14:creationId xmlns:p14="http://schemas.microsoft.com/office/powerpoint/2010/main" val="16688258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2B7919-02F6-EDE1-07DF-4A626D45A8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Dataset Overview</a:t>
            </a:r>
            <a:endParaRPr lang="LID4096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01A9C6E-A496-EB44-0C6D-8F3263A530A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LID4096" altLang="LID4096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Time:</a:t>
            </a:r>
            <a:r>
              <a:rPr kumimoji="0" lang="LID4096" altLang="LID4096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Invoice Date (Year, Month)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LID4096" altLang="LID4096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Product:</a:t>
            </a:r>
            <a:r>
              <a:rPr kumimoji="0" lang="LID4096" altLang="LID4096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Vehicle Type, Make, Model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LID4096" altLang="LID4096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Geography:</a:t>
            </a:r>
            <a:r>
              <a:rPr kumimoji="0" lang="LID4096" altLang="LID4096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Country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LID4096" altLang="LID4096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Financials:</a:t>
            </a:r>
            <a:r>
              <a:rPr kumimoji="0" lang="LID4096" altLang="LID4096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Sale Price, Cost Price, Discounts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LID4096" altLang="LID4096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Derived Metrics:</a:t>
            </a:r>
            <a:r>
              <a:rPr kumimoji="0" lang="LID4096" altLang="LID4096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Profit, Profit Margin %, Sales Variance, Targets</a:t>
            </a:r>
          </a:p>
        </p:txBody>
      </p:sp>
    </p:spTree>
    <p:extLst>
      <p:ext uri="{BB962C8B-B14F-4D97-AF65-F5344CB8AC3E}">
        <p14:creationId xmlns:p14="http://schemas.microsoft.com/office/powerpoint/2010/main" val="41037040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C82319-47F8-8861-F55D-DDAAF93EDD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Methodology</a:t>
            </a:r>
            <a:endParaRPr lang="LID4096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C815927-D7C8-DB1E-735A-3BA56552891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84310" y="2921048"/>
            <a:ext cx="5599610" cy="26161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LID4096" altLang="LID4096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Cleaned and transformed data using </a:t>
            </a:r>
            <a:r>
              <a:rPr kumimoji="0" lang="LID4096" altLang="LID4096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Power Query</a:t>
            </a:r>
            <a:endParaRPr kumimoji="0" lang="LID4096" altLang="LID4096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LID4096" altLang="LID4096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Removed unnecessary columns and duplicates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LID4096" altLang="LID4096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Created calculated columns like Total Cost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LID4096" altLang="LID4096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Built DAX measures for:</a:t>
            </a:r>
          </a:p>
          <a:p>
            <a:pPr marL="457200" lvl="1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Total Sales</a:t>
            </a:r>
          </a:p>
          <a:p>
            <a:pPr marL="457200" lvl="1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Profit</a:t>
            </a:r>
          </a:p>
          <a:p>
            <a:pPr marL="457200" lvl="1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Profit Margin %</a:t>
            </a:r>
          </a:p>
          <a:p>
            <a:pPr marL="457200" lvl="1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Sales Target</a:t>
            </a:r>
          </a:p>
          <a:p>
            <a:pPr marL="457200" lvl="1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Sales Variance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LID4096" altLang="LID4096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Designed visuals aligned to each analytical question</a:t>
            </a:r>
          </a:p>
        </p:txBody>
      </p:sp>
    </p:spTree>
    <p:extLst>
      <p:ext uri="{BB962C8B-B14F-4D97-AF65-F5344CB8AC3E}">
        <p14:creationId xmlns:p14="http://schemas.microsoft.com/office/powerpoint/2010/main" val="19221479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E6836A-7BFC-1E86-D20E-64C1545F85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Analytical Approach</a:t>
            </a:r>
            <a:endParaRPr lang="LID4096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BCA0C0D-44E6-C713-FA03-3898A4609F2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LID4096" altLang="LID4096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Descriptive analysis:</a:t>
            </a:r>
            <a:r>
              <a:rPr kumimoji="0" lang="LID4096" altLang="LID4096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Total sales, profit, category performance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LID4096" altLang="LID4096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Comparative analysis:</a:t>
            </a:r>
            <a:r>
              <a:rPr kumimoji="0" lang="LID4096" altLang="LID4096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Vehicle type and region comparisons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LID4096" altLang="LID4096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Trend analysis:</a:t>
            </a:r>
            <a:r>
              <a:rPr kumimoji="0" lang="LID4096" altLang="LID4096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Monthly and yearly sales trends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LID4096" altLang="LID4096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Relationship analysis:</a:t>
            </a:r>
            <a:r>
              <a:rPr kumimoji="0" lang="LID4096" altLang="LID4096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Sales vs profit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LID4096" altLang="LID4096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Performance tracking:</a:t>
            </a:r>
            <a:r>
              <a:rPr kumimoji="0" lang="LID4096" altLang="LID4096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KPI, gauge, and variance visuals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LID4096" altLang="LID4096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Storytelling:</a:t>
            </a:r>
            <a:r>
              <a:rPr kumimoji="0" lang="LID4096" altLang="LID4096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Slicers and bookmarks for guided navigation</a:t>
            </a:r>
          </a:p>
        </p:txBody>
      </p:sp>
    </p:spTree>
    <p:extLst>
      <p:ext uri="{BB962C8B-B14F-4D97-AF65-F5344CB8AC3E}">
        <p14:creationId xmlns:p14="http://schemas.microsoft.com/office/powerpoint/2010/main" val="10388414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6F5452-1779-53EE-F6A6-9B526E8A93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KPI Snapshot (Cards &amp; KPI Visual)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C8A36F-1FA3-EC17-3EFB-CD7D6C176D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US" b="1" dirty="0"/>
              <a:t>Dashboard Elements: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Card: </a:t>
            </a:r>
            <a:r>
              <a:rPr lang="en-US" b="1" dirty="0"/>
              <a:t>Total Sales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Card: </a:t>
            </a:r>
            <a:r>
              <a:rPr lang="en-US" b="1" dirty="0"/>
              <a:t>Profit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Card: </a:t>
            </a:r>
            <a:r>
              <a:rPr lang="en-US" b="1" dirty="0"/>
              <a:t>Profit Margin %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KPI Visual: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Indicator: Total Sales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Target: Sales Target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Trend Axis: Invoice Date</a:t>
            </a:r>
          </a:p>
          <a:p>
            <a:r>
              <a:rPr lang="en-US" b="1" dirty="0"/>
              <a:t>What it shows: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Quick summary of overall business performance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Clear comparison of actual sales vs target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Sales trend over time</a:t>
            </a:r>
          </a:p>
          <a:p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10581079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B8EB3B-01CC-3F9F-D23F-B4AB8EDCBA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Sales by Vehicle Type (Bar Chart)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94069F-E7CD-D428-C862-9FECB86350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b="1" dirty="0"/>
              <a:t>Visual Used:</a:t>
            </a:r>
            <a:r>
              <a:rPr lang="en-US" sz="1800" dirty="0"/>
              <a:t> Bar Chart</a:t>
            </a:r>
            <a:br>
              <a:rPr lang="en-US" sz="1800" dirty="0"/>
            </a:br>
            <a:br>
              <a:rPr lang="en-US" sz="1800" dirty="0"/>
            </a:br>
            <a:r>
              <a:rPr lang="en-US" sz="1800" b="1" dirty="0"/>
              <a:t>Fields:</a:t>
            </a:r>
            <a:endParaRPr lang="en-US" sz="18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Axis: Vehicle Type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Values: Total Sales</a:t>
            </a:r>
          </a:p>
          <a:p>
            <a:r>
              <a:rPr lang="en-US" sz="1800" b="1" dirty="0"/>
              <a:t>Key Observation:</a:t>
            </a:r>
            <a:endParaRPr lang="en-US" sz="18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Sales contribution varies significantly by vehicle category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Certain vehicle types dominate overall revenue</a:t>
            </a:r>
          </a:p>
          <a:p>
            <a:endParaRPr lang="LID4096" sz="1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437A2AB-9EBF-BC18-9006-E827E2D1F6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7429" y="2712414"/>
            <a:ext cx="2494558" cy="1433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61679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5EE5C9E-7DF7-DC1E-AA64-B09532A07C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6780" y="2378583"/>
            <a:ext cx="5487166" cy="230537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01B4A01-7309-6738-2DA9-FC4016A9CB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Monthly Sales Trend (Line Chart)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335C28-922C-C301-1877-8202B9A4ED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b="1" dirty="0"/>
              <a:t>Visual Used:</a:t>
            </a:r>
            <a:r>
              <a:rPr lang="en-US" dirty="0"/>
              <a:t> Line Chart</a:t>
            </a:r>
            <a:br>
              <a:rPr lang="en-US" dirty="0"/>
            </a:br>
            <a:br>
              <a:rPr lang="en-US" dirty="0"/>
            </a:br>
            <a:r>
              <a:rPr lang="en-US" b="1" dirty="0"/>
              <a:t>Fields: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X-Axis: Invoice Date (Month)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Y-Axis: Total Sales</a:t>
            </a:r>
          </a:p>
          <a:p>
            <a:r>
              <a:rPr lang="en-US" b="1" dirty="0"/>
              <a:t>Key Observation: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Sales fluctuate across months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Clear periods of growth and slowdown visible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Useful for identifying seasonality</a:t>
            </a:r>
          </a:p>
          <a:p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28489913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C22069-B4E1-0501-F09F-B0F33A35B8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Regional Sales Distribution (Pie / Map)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1410C3-981C-950E-3DDF-F7F3F9CC2C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Visuals Used: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Pie Chart: Sales by Country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Map Visual: Geographic sales distribution</a:t>
            </a:r>
          </a:p>
          <a:p>
            <a:r>
              <a:rPr lang="en-US" b="1" dirty="0"/>
              <a:t>Key Observation: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Some regions consistently outperform others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High-sales countries stand out clearly on the map</a:t>
            </a:r>
          </a:p>
          <a:p>
            <a:endParaRPr lang="LID4096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32A45AD-C728-5EE1-4385-E8C270CD11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9561" y="1902160"/>
            <a:ext cx="2626034" cy="152967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0A6F239-3AE5-D8B0-2599-AD0F280CB8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0492" y="3429000"/>
            <a:ext cx="3738819" cy="2097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1735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81FB18-852C-9A14-1F33-8EEC93AFE2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Sales vs Profit Relationship (Scatter Plot)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2BFE61-4436-2E9D-C19D-397CFDA6D7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b="1" dirty="0"/>
              <a:t>Visual Used:</a:t>
            </a:r>
            <a:r>
              <a:rPr lang="en-US" dirty="0"/>
              <a:t> Scatter Plot</a:t>
            </a:r>
            <a:br>
              <a:rPr lang="en-US" dirty="0"/>
            </a:br>
            <a:br>
              <a:rPr lang="en-US" dirty="0"/>
            </a:br>
            <a:r>
              <a:rPr lang="en-US" b="1" dirty="0"/>
              <a:t>Fields: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X-Axis: Total Sales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Y-Axis: Profit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Legend: Vehicle Type</a:t>
            </a:r>
          </a:p>
          <a:p>
            <a:r>
              <a:rPr lang="en-US" b="1" dirty="0"/>
              <a:t>Key Insight: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Higher sales do not always result in higher profit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Profitability varies across vehicle categories</a:t>
            </a:r>
          </a:p>
          <a:p>
            <a:endParaRPr lang="LID4096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2E4F1D8-56D5-47F5-2234-2F68A8D263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4427" y="2554245"/>
            <a:ext cx="3505551" cy="2091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51687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E7A9F-51F7-17EA-E7A3-D5416DDD66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Profitability Analysis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858990-104F-6EE7-6D0B-00290BE6B6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Metrics Used: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Profit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Profit Margin %</a:t>
            </a:r>
          </a:p>
          <a:p>
            <a:r>
              <a:rPr lang="en-US" b="1" dirty="0"/>
              <a:t>Insight: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Some vehicle types show strong sales but lower margins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Cost control plays a major role in profitability</a:t>
            </a:r>
          </a:p>
          <a:p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11683255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CCF15F-5CF8-3366-F260-55A50A041A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Sales Variance Analysis (Waterfall Chart)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BB42B4-D6D8-1FDC-CC2B-1217ED96F1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Visual Used:</a:t>
            </a:r>
            <a:r>
              <a:rPr lang="en-US" dirty="0"/>
              <a:t> Waterfall Chart</a:t>
            </a:r>
            <a:br>
              <a:rPr lang="en-US" dirty="0"/>
            </a:br>
            <a:br>
              <a:rPr lang="en-US" dirty="0"/>
            </a:br>
            <a:r>
              <a:rPr lang="en-US" b="1" dirty="0"/>
              <a:t>Fields: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Category: Vehicle Type / Time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Values: Sales Variance (Actual – Target)</a:t>
            </a:r>
          </a:p>
          <a:p>
            <a:r>
              <a:rPr lang="en-US" b="1" dirty="0"/>
              <a:t>Key Insight: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Shows positive and negative contributions clearly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Helps explain how different segments impact total variance</a:t>
            </a:r>
          </a:p>
          <a:p>
            <a:endParaRPr lang="LID4096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C00D453-E320-1824-2B96-35C80EA90C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0882" y="2100659"/>
            <a:ext cx="3462141" cy="2962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27320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27370B-9906-840C-4065-13FC3E339F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Performance vs Target (Gauge Chart)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2CA27B-76B6-B7E9-89B8-27ACBB302A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b="1" dirty="0"/>
              <a:t>Visual Used:</a:t>
            </a:r>
            <a:r>
              <a:rPr lang="en-US" dirty="0"/>
              <a:t> Gauge Chart</a:t>
            </a:r>
            <a:br>
              <a:rPr lang="en-US" dirty="0"/>
            </a:br>
            <a:br>
              <a:rPr lang="en-US" dirty="0"/>
            </a:br>
            <a:r>
              <a:rPr lang="en-US" b="1" dirty="0"/>
              <a:t>Fields: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Value: Total Sales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Target: Sales Target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Minimum: 0</a:t>
            </a:r>
          </a:p>
          <a:p>
            <a:r>
              <a:rPr lang="en-US" b="1" dirty="0"/>
              <a:t>Key Insight: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Immediate visual indication of target achievement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Easy for management to interpret performance status</a:t>
            </a:r>
          </a:p>
          <a:p>
            <a:endParaRPr lang="LID4096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2A8AA3C-EF65-6F00-AA8D-8610D065B0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4798" y="2438399"/>
            <a:ext cx="3748225" cy="2509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13369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342A39-30AE-3776-32D5-7D593A3716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Sales Funnel (Funnel Chart)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F0D65D-6848-FEBF-6F21-98B4D0D358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Visual Used:</a:t>
            </a:r>
            <a:r>
              <a:rPr lang="en-US" dirty="0"/>
              <a:t> Funnel Chart</a:t>
            </a:r>
            <a:br>
              <a:rPr lang="en-US" dirty="0"/>
            </a:br>
            <a:br>
              <a:rPr lang="en-US" dirty="0"/>
            </a:br>
            <a:r>
              <a:rPr lang="en-US" b="1" dirty="0"/>
              <a:t>Fields: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Group: Vehicle Type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Values: Total Sales</a:t>
            </a:r>
          </a:p>
          <a:p>
            <a:r>
              <a:rPr lang="en-US" b="1" dirty="0"/>
              <a:t>Key Insight: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Highlights drop-off in sales contribution across categories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Identifies top and bottom contributors</a:t>
            </a:r>
          </a:p>
          <a:p>
            <a:endParaRPr lang="LID4096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7720680-283C-1A2B-A671-19542959F4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1486" y="2438399"/>
            <a:ext cx="3321537" cy="2223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05071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B8F614-7AAE-0450-4428-6E7420CE21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Distribution of Sales Amounts (Histogram)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08119A-435D-7FA4-2520-637A7894B8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Visual Used:</a:t>
            </a:r>
            <a:r>
              <a:rPr lang="en-US" dirty="0"/>
              <a:t> Clustered Column Chart (Histogram)</a:t>
            </a:r>
            <a:br>
              <a:rPr lang="en-US" dirty="0"/>
            </a:br>
            <a:br>
              <a:rPr lang="en-US" dirty="0"/>
            </a:br>
            <a:r>
              <a:rPr lang="en-US" b="1" dirty="0"/>
              <a:t>Fields: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X-Axis: Sale Price (Bins)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Y-Axis: Count of Sales</a:t>
            </a:r>
          </a:p>
          <a:p>
            <a:r>
              <a:rPr lang="en-US" b="1" dirty="0"/>
              <a:t>Key Insight: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Shows how sales values are distributed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Helps identify common price ranges and outliers</a:t>
            </a:r>
          </a:p>
          <a:p>
            <a:endParaRPr lang="LID4096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929371F-068D-D75B-B467-89070E243C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2767" y="2438399"/>
            <a:ext cx="3760256" cy="2498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42513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BAE746-442E-0590-1FC5-B7102F4E6D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Interactive Filtering (Slicers)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50BF52-9975-84F5-A3E7-62141B813E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Slicers Used: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Vehicle Type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Country</a:t>
            </a:r>
          </a:p>
          <a:p>
            <a:r>
              <a:rPr lang="en-US" b="1" dirty="0"/>
              <a:t>Benefit: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Allows users to dynamically filter the dashboard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Improves exploration and usability</a:t>
            </a:r>
          </a:p>
          <a:p>
            <a:endParaRPr lang="LID4096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1A44D65-473B-CDE9-286C-0145533FA6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42583" y="2438399"/>
            <a:ext cx="2160440" cy="2304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61395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7001D2-3898-E4B6-03DA-5CE6D6606C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Key Findings</a:t>
            </a:r>
            <a:endParaRPr lang="LID4096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6068581-5C92-7CE2-8992-B09A72ADE5E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LID4096" altLang="LID4096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Vehicle category performance is uneven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LID4096" altLang="LID4096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Certain regions drive the majority of sales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LID4096" altLang="LID4096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Sales growth does not always align with profit growth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LID4096" altLang="LID4096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Targets help highlight performance gaps clearly</a:t>
            </a:r>
          </a:p>
        </p:txBody>
      </p:sp>
    </p:spTree>
    <p:extLst>
      <p:ext uri="{BB962C8B-B14F-4D97-AF65-F5344CB8AC3E}">
        <p14:creationId xmlns:p14="http://schemas.microsoft.com/office/powerpoint/2010/main" val="7229015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69060C-B4CA-604E-4753-D2381EFCD4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Actionable Recommendations</a:t>
            </a:r>
            <a:endParaRPr lang="LID4096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BE7E4B7-CA1E-2D14-E243-E6A9DECA13C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LID4096" altLang="LID4096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Focus marketing and inventory on high-profit vehicle types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LID4096" altLang="LID4096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Review costs for high-sales, low-margin categories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LID4096" altLang="LID4096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Set realistic sales targets based on historical trends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LID4096" altLang="LID4096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 KPIs and alerts for continuous performance tracking</a:t>
            </a:r>
          </a:p>
        </p:txBody>
      </p:sp>
    </p:spTree>
    <p:extLst>
      <p:ext uri="{BB962C8B-B14F-4D97-AF65-F5344CB8AC3E}">
        <p14:creationId xmlns:p14="http://schemas.microsoft.com/office/powerpoint/2010/main" val="14210652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F8884A-17B1-E293-88DE-CC21861F85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</a:t>
            </a:r>
            <a:endParaRPr lang="LID4096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11EF8BEA-56EE-206F-AC50-CE217CEDA48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LID4096" altLang="LID4096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Power BI effectively transformed raw sales data into insights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LID4096" altLang="LID4096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DAX and Power Query enabled accurate and flexible analysis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LID4096" altLang="LID4096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Visuals clearly communicated trends, comparisons, and performance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LID4096" altLang="LID4096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dashboard supports informed, data-driven decision making</a:t>
            </a:r>
          </a:p>
        </p:txBody>
      </p:sp>
    </p:spTree>
    <p:extLst>
      <p:ext uri="{BB962C8B-B14F-4D97-AF65-F5344CB8AC3E}">
        <p14:creationId xmlns:p14="http://schemas.microsoft.com/office/powerpoint/2010/main" val="238184271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18</TotalTime>
  <Words>785</Words>
  <Application>Microsoft Office PowerPoint</Application>
  <PresentationFormat>Widescreen</PresentationFormat>
  <Paragraphs>136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Calibri</vt:lpstr>
      <vt:lpstr>Corbel</vt:lpstr>
      <vt:lpstr>Symbol</vt:lpstr>
      <vt:lpstr>Parallax</vt:lpstr>
      <vt:lpstr>Automobile Dashboard Analysis</vt:lpstr>
      <vt:lpstr>Business Objective</vt:lpstr>
      <vt:lpstr>Dataset Overview</vt:lpstr>
      <vt:lpstr>Methodology</vt:lpstr>
      <vt:lpstr>Analytical Approach</vt:lpstr>
      <vt:lpstr>KPI Snapshot (Cards &amp; KPI Visual)</vt:lpstr>
      <vt:lpstr>Sales by Vehicle Type (Bar Chart)</vt:lpstr>
      <vt:lpstr>Monthly Sales Trend (Line Chart)</vt:lpstr>
      <vt:lpstr>Regional Sales Distribution (Pie / Map)</vt:lpstr>
      <vt:lpstr>Sales vs Profit Relationship (Scatter Plot)</vt:lpstr>
      <vt:lpstr>Profitability Analysis</vt:lpstr>
      <vt:lpstr> Sales Variance Analysis (Waterfall Chart)</vt:lpstr>
      <vt:lpstr>Performance vs Target (Gauge Chart)</vt:lpstr>
      <vt:lpstr>Sales Funnel (Funnel Chart)</vt:lpstr>
      <vt:lpstr>Distribution of Sales Amounts (Histogram)</vt:lpstr>
      <vt:lpstr>Interactive Filtering (Slicers)</vt:lpstr>
      <vt:lpstr>Key Findings</vt:lpstr>
      <vt:lpstr>Actionable Recommendations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Abir Acharya</dc:creator>
  <cp:lastModifiedBy>Abir Acharya</cp:lastModifiedBy>
  <cp:revision>1</cp:revision>
  <dcterms:created xsi:type="dcterms:W3CDTF">2026-01-26T21:02:55Z</dcterms:created>
  <dcterms:modified xsi:type="dcterms:W3CDTF">2026-01-26T21:21:38Z</dcterms:modified>
</cp:coreProperties>
</file>