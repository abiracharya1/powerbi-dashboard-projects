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915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4656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061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86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900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755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561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22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812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636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8288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7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0768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21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30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1633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254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68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EB27-8727-9987-AABD-5AF7BC059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br>
              <a:rPr lang="en-IN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en-IN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IN" sz="4800" b="1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SALES ANALYSIS DASHBOARD </a:t>
            </a:r>
            <a:endParaRPr lang="en-IN" sz="4800" b="0" i="0" u="none" strike="noStrike" baseline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2F60C-A521-4903-4437-455B023BE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organizational sales data using Power BI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Covers sales, profit, quantity, discounts, customers, products, and regions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with interactive visuals for trend, comparison, and relationship analysis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 support data-driven business decisions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7207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B147-1E3D-6921-7F8D-5A8F6A8B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Objective</a:t>
            </a:r>
            <a:endParaRPr lang="LID4096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4DFAF025-F4F5-0C6E-3AD2-A462555E5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total sales and profit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customers and top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sales and profit by category and sub-category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regional and city-level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the impact of discounts and shipping modes</a:t>
            </a:r>
          </a:p>
        </p:txBody>
      </p:sp>
    </p:spTree>
    <p:extLst>
      <p:ext uri="{BB962C8B-B14F-4D97-AF65-F5344CB8AC3E}">
        <p14:creationId xmlns:p14="http://schemas.microsoft.com/office/powerpoint/2010/main" val="166882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7919-02F6-EDE1-07DF-4A626D45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LID4096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913AC8-7DC3-6C09-6736-B282EE306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4044950"/>
            <a:ext cx="2651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Date (Year, Month)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Name, Segment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Sub-Category, Product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Geography: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Region, 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Sales, Profit, Quantity, Discount, Ship Mode</a:t>
            </a:r>
          </a:p>
        </p:txBody>
      </p:sp>
    </p:spTree>
    <p:extLst>
      <p:ext uri="{BB962C8B-B14F-4D97-AF65-F5344CB8AC3E}">
        <p14:creationId xmlns:p14="http://schemas.microsoft.com/office/powerpoint/2010/main" val="410370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2319-47F8-8861-F55D-DDAAF93E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287408-A78D-7C3F-472E-7A9025904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4044950"/>
            <a:ext cx="2651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prepared data using </a:t>
            </a: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</a:t>
            </a:r>
            <a:endParaRPr kumimoji="0" lang="LID4096" alt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DAX measures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visuals based on analytical requirement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Validated insights using multiple chart types</a:t>
            </a:r>
          </a:p>
        </p:txBody>
      </p:sp>
    </p:spTree>
    <p:extLst>
      <p:ext uri="{BB962C8B-B14F-4D97-AF65-F5344CB8AC3E}">
        <p14:creationId xmlns:p14="http://schemas.microsoft.com/office/powerpoint/2010/main" val="192214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836A-7BFC-1E86-D20E-64C1545F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Analytical Approach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888A32-2E03-41C5-2890-F15CDF554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4044950"/>
            <a:ext cx="2651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Sales, profit, quantity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and yearly sales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Customers, products, categories,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Discount vs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City-level sales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3884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5452-1779-53EE-F6A6-9B526E8A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Sales by Customer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A36F-1FA3-EC17-3EFB-CD7D6C17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Bar Chart – Total Sales by Customer Name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Identifies top-performing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Highlights revenue concentration among few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customer prioritization and retention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AC037-CF53-BBBF-D2F6-0CDE5EFE4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29" y="2666999"/>
            <a:ext cx="3341194" cy="15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0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EB3B-01CC-3F9F-D23F-B4AB8EDC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Sales Trend Over the Years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4069F-E7CD-D428-C862-9FECB8635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Visual:</a:t>
            </a:r>
            <a:r>
              <a:rPr lang="en-US" sz="1400" dirty="0"/>
              <a:t> Line Chart – Total Sales by Month (2016–2019)</a:t>
            </a:r>
          </a:p>
          <a:p>
            <a:r>
              <a:rPr lang="en-US" sz="1400" b="1" dirty="0"/>
              <a:t>Key Insights: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Sales fluctuate month to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Overall upward trend visible in later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Seasonal spikes indicate peak sales periods</a:t>
            </a:r>
          </a:p>
          <a:p>
            <a:endParaRPr lang="LID4096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278400-68DF-2E9F-9680-3AFE24E23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244" y="2666999"/>
            <a:ext cx="3468779" cy="249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6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4A01-7309-6738-2DA9-FC4016A9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Distribution by Ship Mode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5C28-922C-C301-1877-8202B9A4E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Pie Chart – Sales by Ship Mode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Class contributes the majority of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shipping modes contribute less 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logistics and cost optimization decisions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E6CCC-C4CB-C6A3-1650-78183B5F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37" y="2438399"/>
            <a:ext cx="3473586" cy="191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9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2069-B4E1-0501-F09F-B0F33A35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Profit by Region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10C3-981C-950E-3DDF-F7F3F9CC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Visual:</a:t>
            </a:r>
            <a:r>
              <a:rPr lang="en-US" dirty="0"/>
              <a:t> Column Chart – Profit by Region</a:t>
            </a:r>
          </a:p>
          <a:p>
            <a:r>
              <a:rPr lang="en-US" b="1" dirty="0"/>
              <a:t>Key Findings: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West and East regions generate higher profits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and South lag behind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Highlights regions needing strategic focus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4ED12B-8C32-A1A9-23E7-94BE4725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395" y="2666999"/>
            <a:ext cx="3351628" cy="27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FB18-852C-9A14-1F33-8EEC93AF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&amp; Profit by Product Category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BFE61-4436-2E9D-C19D-397CFDA6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Clustered Column Chart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Technology category leads in both sales and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Furniture shows moderate sales with lower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Office Supplies contribute steadily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8B1B4-9CC1-71D2-519E-C1E4AE4A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019" y="2666999"/>
            <a:ext cx="3096003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6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7A9F-51F7-17EA-E7A3-D5416DDD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Sales by Sub-Category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8990-104F-6EE7-6D0B-00290BE6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Visual:</a:t>
            </a:r>
            <a:r>
              <a:rPr lang="en-US" dirty="0"/>
              <a:t> Bar Chart : Sales by Sub-Category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Phones and Chairs are top-selling sub-categories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Low-performing sub-categories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inventory and product portfolio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FFAEE-CDB9-3D76-5BA9-9020D1C25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908" y="2666999"/>
            <a:ext cx="211111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2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52A934-E479-6AD6-72AA-265BA266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2438399"/>
            <a:ext cx="6669505" cy="18807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CCF15F-5CF8-3366-F260-55A50A04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&amp; Quantity by Order Date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42B4-D6D8-1FDC-CC2B-1217ED96F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Visual:</a:t>
            </a:r>
            <a:r>
              <a:rPr lang="en-US" dirty="0"/>
              <a:t> Dual-Axis Chart</a:t>
            </a:r>
            <a:br>
              <a:rPr lang="en-US" dirty="0"/>
            </a:br>
            <a:r>
              <a:rPr lang="en-US" dirty="0"/>
              <a:t> (Sales &amp; Quantity)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and quantity don’t always move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quantity does not always mean high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evaluate pricing and volume strategies</a:t>
            </a:r>
          </a:p>
        </p:txBody>
      </p:sp>
    </p:spTree>
    <p:extLst>
      <p:ext uri="{BB962C8B-B14F-4D97-AF65-F5344CB8AC3E}">
        <p14:creationId xmlns:p14="http://schemas.microsoft.com/office/powerpoint/2010/main" val="4122732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370B-9906-840C-4065-13FC3E33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Products by Sales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A27B-76B6-B7E9-89B8-27ACBB302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Bar Chart – Top 10 Products</a:t>
            </a:r>
          </a:p>
          <a:p>
            <a:r>
              <a:rPr lang="en-US" b="1" dirty="0"/>
              <a:t>Key 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Few products drive a large share of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focus promotions and stock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Identifies star products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F0C484-C655-6756-B162-280BD897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469" y="2438399"/>
            <a:ext cx="3118554" cy="267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36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2A39-30AE-3776-32D5-7D593A37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Sales by City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0D65D-6848-FEBF-6F21-98B4D0D3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Map Visualization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concentrated in specific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Geographic clusters clearly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regional marketing and expansion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9264A-613B-C92E-518F-1FA55B5E3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025" y="2438399"/>
            <a:ext cx="3110997" cy="265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0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F614-7AAE-0450-4428-6E7420CE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Discount vs Profit Relationship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119A-435D-7FA4-2520-637A7894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Visual:</a:t>
            </a:r>
            <a:r>
              <a:rPr lang="en-US" dirty="0"/>
              <a:t> Scatter Plot – Discount vs Profit</a:t>
            </a:r>
          </a:p>
          <a:p>
            <a:r>
              <a:rPr lang="en-US" b="1" dirty="0"/>
              <a:t>Key 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discounts often reduce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discounts still generate positive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design better discount strategies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1B883-982A-98F1-D64D-7D8AB943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900" y="2666999"/>
            <a:ext cx="3653123" cy="296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5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E746-442E-0590-1FC5-B7102F4E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  <a:endParaRPr lang="LID4096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7469C37-E6F0-A74F-76EF-F6607AA8B4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are unevenly distributed across customers and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category is the strongest performer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regions and cities dominate profit contribution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Discounts have a visible impact on profitability</a:t>
            </a:r>
          </a:p>
        </p:txBody>
      </p:sp>
    </p:spTree>
    <p:extLst>
      <p:ext uri="{BB962C8B-B14F-4D97-AF65-F5344CB8AC3E}">
        <p14:creationId xmlns:p14="http://schemas.microsoft.com/office/powerpoint/2010/main" val="3566139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01D2-3898-E4B6-03DA-5CE6D660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Recommendations</a:t>
            </a:r>
            <a:endParaRPr lang="LID4096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E9BA8B-7E0C-A6DE-C2B5-8DB4D0BC70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4044950"/>
            <a:ext cx="2651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retention efforts on high-value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discounts to protect profit margins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underperforming regions with targeted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top-performing products and sub-categories</a:t>
            </a:r>
          </a:p>
        </p:txBody>
      </p:sp>
    </p:spTree>
    <p:extLst>
      <p:ext uri="{BB962C8B-B14F-4D97-AF65-F5344CB8AC3E}">
        <p14:creationId xmlns:p14="http://schemas.microsoft.com/office/powerpoint/2010/main" val="722901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060C-B4CA-604E-4753-D2381EFC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for Business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FE1520-4ADA-E03B-E359-BB8B4A1A4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4044950"/>
            <a:ext cx="2651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growth does not always mean profit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Shipping mode preferences influence operational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and city-level insights support localized strategies</a:t>
            </a:r>
          </a:p>
        </p:txBody>
      </p:sp>
    </p:spTree>
    <p:extLst>
      <p:ext uri="{BB962C8B-B14F-4D97-AF65-F5344CB8AC3E}">
        <p14:creationId xmlns:p14="http://schemas.microsoft.com/office/powerpoint/2010/main" val="1421065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884A-17B1-E293-88DE-CC21861F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C2202-F65B-B69A-509C-C8968E94831F}"/>
              </a:ext>
            </a:extLst>
          </p:cNvPr>
          <p:cNvSpPr txBox="1"/>
          <p:nvPr/>
        </p:nvSpPr>
        <p:spPr>
          <a:xfrm>
            <a:off x="1716378" y="3253136"/>
            <a:ext cx="95545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sales analysis brings clarity to how customers, products, regions, discounts, and shipping modes affect overall business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makes it easy to identify strong revenue drivers as well as areas that need attention.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Trends across months and years show that growth is uneven, which highlights the need for focused, data-backed decisions rather than broad strategies.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presenting insights through clear and interactive visuals, the analysis supports practical decision making and helps the business respond more effectively to changing sales patterns.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81842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</TotalTime>
  <Words>704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Corbel</vt:lpstr>
      <vt:lpstr>Symbol</vt:lpstr>
      <vt:lpstr>Parallax</vt:lpstr>
      <vt:lpstr>  SALES ANALYSIS DASHBOARD </vt:lpstr>
      <vt:lpstr>Business Objective</vt:lpstr>
      <vt:lpstr>Dataset Overview</vt:lpstr>
      <vt:lpstr>Methodology</vt:lpstr>
      <vt:lpstr>Analytical Approach</vt:lpstr>
      <vt:lpstr>Total Sales by Customer</vt:lpstr>
      <vt:lpstr>Monthly Sales Trend Over the Years</vt:lpstr>
      <vt:lpstr>Sales Distribution by Ship Mode</vt:lpstr>
      <vt:lpstr>Total Profit by Region</vt:lpstr>
      <vt:lpstr>Sales &amp; Profit by Product Category</vt:lpstr>
      <vt:lpstr>Total Sales by Sub-Category</vt:lpstr>
      <vt:lpstr>Sales &amp; Quantity by Order Date</vt:lpstr>
      <vt:lpstr>Top 10 Products by Sales</vt:lpstr>
      <vt:lpstr>Total Sales by City</vt:lpstr>
      <vt:lpstr>Discount vs Profit Relationship</vt:lpstr>
      <vt:lpstr>Key Findings</vt:lpstr>
      <vt:lpstr>Actionable Recommendations</vt:lpstr>
      <vt:lpstr>Insights for Business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Acharya</dc:creator>
  <cp:lastModifiedBy>Abir Acharya</cp:lastModifiedBy>
  <cp:revision>2</cp:revision>
  <dcterms:created xsi:type="dcterms:W3CDTF">2026-01-26T21:02:55Z</dcterms:created>
  <dcterms:modified xsi:type="dcterms:W3CDTF">2026-01-26T21:43:29Z</dcterms:modified>
</cp:coreProperties>
</file>